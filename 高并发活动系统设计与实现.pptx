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976" autoAdjust="0"/>
  </p:normalViewPr>
  <p:slideViewPr>
    <p:cSldViewPr snapToGrid="0">
      <p:cViewPr varScale="1">
        <p:scale>
          <a:sx n="146" d="100"/>
          <a:sy n="146" d="100"/>
        </p:scale>
        <p:origin x="61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一个高并发活动系统的设计与实现。本次分享将深入探讨系统的核心功能、面临的性能与可靠性挑战，以及我们为应对这些挑战所采用的关键技术方案。希望能通过这次分享，为大家在类似系统的设计中提供一些参考和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概览系统的核心软件功能。接着，深入分析系统在高并发场景下面临的性能、可用性和可靠性问题。然后，我们将详细介绍针对这些问题的技术解决方案和系统架构。最后，通过一系列测试评估来验证我们方案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第一部分，软件功能。我们的系统主要包含问卷、接龙、大屏抽奖和投票四大模块。每个模块都有明确的性能指标和可靠性保障机制。例如，问卷系统支持200并发，平均响应时间145毫秒，通过唯一约束和Redis幂等性来防止重复提交。这些设计共同构成了系统的基础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性能方面，我们进行了全面的压力测试。数据显示，无论是问卷、接龙还是投票，系统都能在高并发下保持极低的响应时间和零错误率。特别是WebSocket推送，在100个客户端同时连接的情况下，延迟低于50毫秒，实现了真正的实时同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可靠性方面，我们进行了多项严苛的边界测试。例如，在抽奖超卖测试中，即使请求数量远超奖池人数，系统也能精准控制，保证公平公正。在模拟Redis宕机的灾备测试中，我们的数据恢复机制表现完美，实现了零数据丢失。这些案例充分证明了系统的健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问题分析。首先是性能挑战。最典型的就是高并发写入请求可能瞬间压垮数据库。此外，大屏实时统计带来的读压力，以及WebSocket在分布式环境下的广播问题，都是我们需要解决的关键性能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在可用性方面，Redis的单点故障是最大的风险点，因为它承载了缓存、锁等关键功能。此外，分布式锁的死锁问题和异步消息的丢失问题，也会严重影响系统的稳定性和数据一致性。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靠性挑战直接关系到业务逻辑的正确性。例如，抽奖超卖、接龙序号冲突、投票重复提交，这些都是高并发场景下极易出现的问题，一旦发生，将对业务造成直接损害。此外，缓存与数据库的数据一致性问题也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举了三个典型的问题案例。比如时区错配，这是一个看似简单却容易忽略的问题，会直接影响用户体验。而抽奖超卖和接龙序号冲突，则是典型的并发问题，若不妥善处理，后果严重。这些案例都真实发生过，也促使我们不断优化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第三部分，技术方案。这张表格总览了我们针对性能、可用性和可靠性三大类问题的解决方案。例如，针对高并发写，我们采用了基于Redis和Outbox模式的异步落库方案；针对抽奖超卖，则采用了Redis的SPOP原子操作结合事务补偿机制。接下来，我将对几个关键方案进行详细解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关键方案是抽奖防超卖。我们利用Redis的SPOP命令，它可以原子性地从奖池集合中弹出指定数量的中奖者，这从根本上杜绝了超卖的可能。然后，我们尝试将中奖结果写入数据库。如果写入失败，比如因为网络抖动或重复中奖导致唯一键冲突，我们会执行一个回滚操作，将奖品重新放回Redis奖池，确保了数据的最终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方案是保证接龙序号的连续性。这里的核心是使用分布式锁。当用户参与接龙时，首先尝试获取一个针对该接龙的分布式锁。一旦获取成功，就进入临界区，在这个区域内，我们可以安全地查询当前最大序号并加一，然后保存。由于临界区同时只有一个线程能进入，所以完美保证了序号的唯一性和连续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方案是投票的强一致性。为了防止重复投票，我们没有采用传统的“先查后改”模式，因为这在并发下是不安全的。我们使用了Lua脚本，将“检查用户是否已投票”和“增加票数、记录投票”这几个操作打包，让它们在Redis服务器端作为一个原子操作执行。这样既保证了数据一致性，又获得了极高的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方案是Redis的灾备恢复。我们采用了“快照+事件回放”的经典模式。系统会定期对Redis中的关键数据进行快照保存到MySQL。同时，所有数据变更都会被记录下来。当Redis发生故障时，我们可以先加载最近的快照，然后回放快照之后的所有变更事件，从而将数据精确地恢复到故障发生前的最后一刻，实现了真正意义上的数据零丢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方案非常简单，但却非常重要，那就是统一时区。我们确保系统所有关于时间的处理都基于北京时间。这个小小的改动，彻底解决了因用户所在时区不同而导致活动列表显示异常的问题。同时，我们还优化了活动活跃状态的判断逻辑，使得业务规则更加灵活和健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这是我们系统的整体架构图。前端通过Nginx访问后端的Spring Boot服务集群。后端服务与Redis、MySQL和Redis Stream等中间件交互。Redis承担了缓存、分布式锁和数据池的角色；MySQL用于持久化存储；Redis Stream则用于处理异步事件和实现Outbox模式。这个架构清晰地分离了各个组件的职责，保证了系统的高内聚和低耦合。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现在我们进入第四部分，测试评估。我们的测试环境完全模拟了生产环境，包括Spring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Boot 3、Docker容器、MySQL 8.0和Redis 6.2。测试工具主要使用JMeter进行压力测试，Postman进行功能验证，并辅以PowerShell脚本进行边界测试。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测试方案非常全面。除了常规的功能和并发测试，我们还特别设计了边界测试，如模拟抽奖超卖；容错测试，如模拟数据库异常；以及灾备测试，验证Redis宕机后的恢复能力。每一项测试都有明确的通过标准，确保系统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结果令人满意。所有关键指标都达到了预期目标。无论是高并发下的性能表现，还是灾备恢复、边界条件处理，系统都表现出色。特别是在抽奖超卖、接龙序号连续和Redis灾备重建这几个关键点上，都得到了完美的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测试也暴露了一些问题。例如，我们之前提到的时区错配问题，以及抽奖过程中唯一键冲突未回滚的问题。这些缺陷都被及时发现并修复。这个过程也体现了测试的重要性，它帮助我们不断完善系统，提升了系统的稳定性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最后，我们的测试结论是：系统在功能、性能和可靠性方面都达到了预期目标，是一个高质量、高可用的系统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3.svg"/><Relationship Id="rId10" Type="http://schemas.openxmlformats.org/officeDocument/2006/relationships/image" Target="../media/image22.svg"/><Relationship Id="rId4" Type="http://schemas.openxmlformats.org/officeDocument/2006/relationships/image" Target="../media/image17.svg"/><Relationship Id="rId9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65000"/>
                </a:srgbClr>
              </a:gs>
              <a:gs pos="100000">
                <a:srgbClr val="000000">
                  <a:alpha val="3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高并发活动系统设计与实现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640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性能、可靠性与技术方案深度解析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334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王梓羽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82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778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软件功能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667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全面展示核心的四大业务模块，直观呈现前端操作界面，同时重点介绍系统在高负载下的性能表现与核心可靠性亮点。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195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6195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746500" y="1714500"/>
            <a:ext cx="82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1778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46500" y="2667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深度剖析高并发场景下的性能瓶颈、系统可用性风险与稳定性挑战，结合真实业务案例还原问题发生的具体场景与实际影响。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1714500"/>
            <a:ext cx="82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93000" y="1778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2667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基于问题根源提出针对性的整体技术解决方案，详细拆解系统架构设计思路与关键技术实施策略，为系统升级提供可行路径。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345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3345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461500" y="1714500"/>
            <a:ext cx="82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350500" y="1778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测试评估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461500" y="2667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搭建专业测试环境执行多维度验证，通过详实的压力测试数据与功能验收结果，客观呈现技术方案落地后的实际优化成效。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318000"/>
            <a:ext cx="11239500" cy="1778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4318000"/>
            <a:ext cx="508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45085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汇报将围绕系统全生命周期展开，从功能全貌到问题洞察，再到方案落地与效果验证，系统性地阐述如何通过技术升级解决核心痛点。我们将用客观的数据和真实的案例，为您清晰呈现本次技术升级的价值主张与实施成果，展示系统在性能、可靠性和用户体验上的全面提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软件功能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79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专为高并发场景设计的综合性活动系统，集成了问卷、接龙、抽奖与投票四大核心业务模块。系统在功能实现的基础上，深度优化了并发处理能力与数据一致性机制，能够从容应对大规模用户的瞬时访问压力，保障业务流程的高效与稳定运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2438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问卷系统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921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支持问卷的灵活创建、用户提交与实时统计，内置防重复提交机制，满足多样化调研与信息收集需求。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746500"/>
            <a:ext cx="23495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37592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200并发 · 145ms 响应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4318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唯一约束 + Redis幂等去重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492500" y="2286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619500" y="2438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接龙系统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2921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实现活动接龙的快速发起、用户参与及状态管理，确保参与序号严格连续，适应各类互动与报名场景。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19500" y="3746500"/>
            <a:ext cx="23495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683000" y="37592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200并发 · 162ms 响应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19500" y="4318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分布式锁保障顺序一致性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2286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2438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大屏抽奖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2921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包含智能奖池管理、原子化抽奖算法与结果实时推送，支持高互动性的现场与线上大屏展示活动。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746500"/>
            <a:ext cx="23495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37592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50并发 · 89ms 极速响应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318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SPOP指令 + 两阶段回滚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535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953500" y="2286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080500" y="2438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投票系统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2921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提供投票项创建、多渠道提交、结果实时计算及灾备恢复能力，支撑大规模评选与民意征集业务。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80500" y="3746500"/>
            <a:ext cx="23495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144000" y="3759200"/>
            <a:ext cx="2222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300并发 · 210ms 响应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80500" y="4318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Redlock + Lua + 快照恢复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4889500"/>
            <a:ext cx="10795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16000" y="5016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核心技术架构：高并发与强一致性的双重保障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" y="5461000"/>
            <a:ext cx="1028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基于分布式架构与多级缓存策略深度定制，针对问卷、接龙等不同业务场景的特性，分别采用了Redis幂等、分布式锁、原子操作及两阶段回滚等前沿技术方案。这不仅实现了从50到300并发场景下的毫秒级响应，更构建了数据零丢失的可靠性防线，确保在大型线上活动的瞬时流量洪峰中，业务流程依然稳健、数据结果绝对可信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软件功能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通过全链路压力测试，我们在真实高并发场景下验证了系统的卓越性能，核心业务流程均保持毫秒级响应与零异常的稳定表现，为大规模用户使用提供了坚实的技术保障。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349500"/>
            <a:ext cx="3467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400" y="24892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问卷提交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98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200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线程并发 · 145ms响应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5941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表单数据极速写入，全流程无报错。在高频提交场景下，系统保持零数据丢失，数据落盘准确无误。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19600" y="2349500"/>
            <a:ext cx="3467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19600" y="2349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2000" y="24892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接龙参与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98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200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线程并发 · 162ms响应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5941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多人同时操作下序号连续无断层，从1到100精准生成。复杂业务逻辑下依然保持高效的事务处理能力。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77200" y="2349500"/>
            <a:ext cx="3467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77200" y="2349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29600" y="24892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抽奖抽取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29600" y="298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50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线程并发 · 89ms响应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29600" y="35941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库存预扣与释放机制严密，实测实现0超卖。即使在瞬时流量洪峰下，也能保障奖品发放的绝对公平。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445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44450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14400" y="45847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投票提交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" y="49911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300 线程并发 · 0 超投风险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4400" y="5499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高并发下流量削峰与幂等性校验双重保障，平均响应仅210ms。支持大规模用户同时投票，数据实时统计且无重复计入，结果真实可信。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445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23000" y="44450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75400" y="45847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实时推送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75400" y="49911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100 终端在线 · 延迟 &lt;50ms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75400" y="5499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长连接保持稳定不中断，数据毫秒级触达所有在线终端。完美支持多屏实时同步更新，为即时互动类业务提供了流畅、无卡顿的极致用户体验。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软件功能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抽奖超卖边界测试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84400"/>
            <a:ext cx="4889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22225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设置30人容量的奖池，模拟瞬时涌入50人并发抽取请求，验证系统在资源不足时的处理逻辑。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845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30226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系统精准熔断超额请求，仅返回30位有效中奖者，无“空气人”产生，实现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0超抽、0错误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，保障了活动的公平性与数据安全。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1676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灾备恢复测试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2184400"/>
            <a:ext cx="4889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40500" y="22225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手动执行 Redis FLUSHALL 命令清空全量缓存，模拟生产环境中缓存层完全失效的极端故障。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9845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30226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自动触发灾备机制，通过 MySQL 快照与增量事件回放，数据实现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毫秒级无损恢复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，业务无感知，连续性未受影响。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275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2500" y="42799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唯一键冲突回滚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4787900"/>
            <a:ext cx="4889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79500" y="4826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构造同一用户ID在极小时间窗口内的重复中奖请求，模拟网络抖动导致的重复提交异常。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5880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79500" y="56261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幂等性校验生效，冲突请求被拦截，奖品自动回退至奖池，确保了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数据绝对一致性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，杜绝了多发或错发风险。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1275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230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13500" y="42799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接龙并发顺序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4787900"/>
            <a:ext cx="4889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540500" y="4826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100个用户进程同时发起接龙参与请求，形成高并发竞争，考验分布式锁与队列的排序能力。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13500" y="55880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540500" y="56261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全局序列号生成器稳定运行，参与者序号从1连续递增至100，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无乱序、无重复、无断层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，业务逻辑精准执行。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问题分析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高并发写压垮数据库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031">
            <a:off x="952513" y="2660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857500"/>
            <a:ext cx="3111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在业务峰值期，瞬间涌入的大量并发写请求会迅速耗尽数据库连接池资源，导致新请求无法建立连接。这不仅会引发核心交易链路的响应延迟，严重时更会触发服务雪崩效应，造成系统不可用。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699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4762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991B1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直接威胁核心数据持久化，需立即实施流量削峰与读写分离策略。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70400" y="1524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60900" y="17780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实时统计查询压力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031">
            <a:off x="4660913" y="2660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2857500"/>
            <a:ext cx="3111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业务监控大屏为了保证数据的实时性，通常采用高频短轮询的方式直连数据库。这种持续的大量读操作会产生显著的读放大效应，加重数据库CPU与I/O负载，导致统计结果更新滞后，影响业务方的实时决策效率。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4699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87900" y="4762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风险等级：中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064E3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影响数据时效性，建议引入缓存层与异步计算架构进行优化。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91500" y="1524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915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382000" y="17780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WebSocket多实例广播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031">
            <a:off x="8382013" y="2660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2857500"/>
            <a:ext cx="3111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分布式集群部署下，用户的WebSocket长连接会随机散落在不同的服务器实例上。当需要进行全平台或特定分组的消息广播时，传统的单节点推送机制无法覆盖跨实例的用户，容易出现消息丢失或推送延迟，技术实现复杂度大幅提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4699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509000" y="4762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风险等级：中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064E3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影响实时通信体验，需搭建基于消息队列的跨节点广播系统。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问题分析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016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高可用性是保障业务连续性的基础。在高并发与复杂业务场景下，核心组件的稳定性、锁机制的可靠性以及数据流转的完整性，共同构成了系统稳健运行的关键防线，任何一个环节的失效都可能引发连锁反应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34671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765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Redis单点故障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3086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Redis作为核心基础设施，若发生宕机将导致缓存雪崩、分布式锁失效及业务计数器归零。这会直接切断核心服务的响应能力，引发大面积业务停摆。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81500"/>
            <a:ext cx="3086100" cy="698500"/>
          </a:xfrm>
          <a:prstGeom prst="roundRect">
            <a:avLst>
              <a:gd name="adj" fmla="val 0"/>
            </a:avLst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419600"/>
            <a:ext cx="28321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7F1D1D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系统关键路径阻断，业务不可用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2476500"/>
            <a:ext cx="34671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94200" y="24765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84700" y="26670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分布式锁死锁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84700" y="3175000"/>
            <a:ext cx="3086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异常场景下锁未能被正确释放（如服务崩溃、网络分区），会导致后续所有获取该锁的业务线程永久阻塞。这会造成特定业务流程停滞，影响服务吞吐量。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84700" y="4381500"/>
            <a:ext cx="3086100" cy="698500"/>
          </a:xfrm>
          <a:prstGeom prst="roundRect">
            <a:avLst>
              <a:gd name="adj" fmla="val 0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11700" y="4419600"/>
            <a:ext cx="28321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风险等级：中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7C2D1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局部业务阻塞，需人工干预恢复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2476500"/>
            <a:ext cx="34671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26400" y="24765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16900" y="26670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异步消息丢失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16900" y="3175000"/>
            <a:ext cx="3086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基于Outbox模式的异步任务若因消费者故障或网络问题未被正常消费，会导致核心业务数据无法最终一致性同步。这会引发数据断层，影响后续业务逻辑的正确性。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16900" y="4381500"/>
            <a:ext cx="3086100" cy="698500"/>
          </a:xfrm>
          <a:prstGeom prst="roundRect">
            <a:avLst>
              <a:gd name="adj" fmla="val 0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343900" y="4419600"/>
            <a:ext cx="28321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风险等级：中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7C2D1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数据一致性受损，业务状态偏差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731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52500" y="5537200"/>
            <a:ext cx="1035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300" b="0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Redis单点故障是当前系统稳定性的最大短板，需作为首要优化项通过集群架构升级解决；分布式锁与消息丢失属于流程性风险，可通过引入超时自动释放机制、消息重试与死信队列策略来建立兜底防护，从而全面提升系统的高可用水位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问题分析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抽奖超卖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22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多人同时发起抽奖请求时，缺乏有效的并发控制，极易导致同一奖品被多次分配，或中奖人数超出奖池设定的库存上限。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302000"/>
            <a:ext cx="2413000" cy="508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3401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风险等级：高 · 资金与信誉双重损失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56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683000" y="1714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接龙序号冲突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2222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高并发参与接龙场景下，分布式节点的时钟偏差或锁机制失效，可能引发序号重复生成或序列中间出现断层，破坏业务连续性。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83000" y="3302000"/>
            <a:ext cx="2413000" cy="508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746500" y="33401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风险等级：高 · 业务流程逻辑断裂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1714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投票重复提交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222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攻击者利用接口漏洞或技术手段绕开前端限制，对同一投票项进行高频重复操作，直接影响结果公正性与数据真实性。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3302000"/>
            <a:ext cx="2413000" cy="508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40500" y="33401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风险等级：高 · 活动公信力受损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0" y="152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144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271000" y="1714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缓存与DB不一致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2222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Redis 服务异常宕机后，若数据恢复策略存在缺陷，会导致热点数据读取异常，新旧数据版本冲突，引发严重的业务逻辑错误。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71000" y="3302000"/>
            <a:ext cx="2413000" cy="508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334500" y="33401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风险等级：高 · 核心数据资产混乱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318000"/>
            <a:ext cx="10985500" cy="1905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16000" y="4508500"/>
            <a:ext cx="1047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核心洞察：业务逻辑正确性是系统的生命线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5080000"/>
            <a:ext cx="1047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高并发流量冲击下，传统的单节点处理模式已无法满足稳定性要求。上述四大可靠性挑战——从业务层的抽奖超卖、接龙异常，到技术层的数据一致性问题，本质上是系统在面对资源竞争和状态变更时的“脆弱性”体现。若缺乏原子性的事务控制、分布式锁或幂等性设计，不仅会造成直接的经济损失，更会严重削弱用户对平台的信任，因此必须将其作为架构升级的核心攻坚方向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问题分析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时区错配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03500"/>
            <a:ext cx="3048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2730500"/>
            <a:ext cx="279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前端直接使用用户设备的本地时间，与后端服务的UTC标准时间进行数值比较。由于未做统一的时区转换处理，导致活跃活动列表在特定时段出现数据逻辑冲突，页面呈现为空。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2545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核心业务影响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699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用户在活动有效时间内无法查看到预期的内容，信息断层直接阻断了用户的操作路径，显著降低了用户的活动参与度与使用体验。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1524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085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1841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抽奖超卖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603500"/>
            <a:ext cx="3048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826000" y="2730500"/>
            <a:ext cx="279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30人容量的奖池遭遇50人高并发请求，系统未实施库存预扣减和分布式锁机制。在瞬时流量冲击下，数据库读写分离导致数据不一致，返回空值或超出奖池数量的超抽结果。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2545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核心业务影响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4699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业务逻辑出现严重错误，奖品超发带来额外运营成本；同时异常结果让用户产生不信任感，破坏了平台公平性原则，对产品口碑和品牌信誉造成不可逆的负面影响。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1524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55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445500" y="1841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接龙100并发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445500" y="2603500"/>
            <a:ext cx="3048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572500" y="2730500"/>
            <a:ext cx="279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百人同时发起接龙参与请求，系统缺乏分布式锁对临界资源的保护。多个请求同时写入数据库，导致接龙序号出现重复值或数值空洞，破坏了数据的连续性和唯一性。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445500" y="42545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核心业务影响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45500" y="4699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生成的接龙数据混乱无序，无法正常流转和使用，直接导致整个活动流程中断。不仅影响了活动的正常推进，更让用户的参与体验大打折扣，引发大量客诉。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495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性能优化：高吞吐与低延迟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24384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痛点：高并发写入瓶颈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2819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核心业务面临瞬时流量洪峰，数据库同步写入导致响应延迟高，影响用户体验。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3492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68400" y="3530600"/>
            <a:ext cx="2730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方案：Redis + Outbox 异步落库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2545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79500" y="43434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痛点：高频实时读请求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" y="4724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热门数据被海量用户反复查询，直接穿透数据库造成连接数耗尽，服务不稳定。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" y="5397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168400" y="5435600"/>
            <a:ext cx="2730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方案：多级缓存 + 读写锁兜底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08500" y="1524000"/>
            <a:ext cx="3556000" cy="495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508500" y="152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99000" y="1714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可用性：系统韧性与自愈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9000" y="23495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826000" y="24384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风险：核心缓存节点宕机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826000" y="2819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内存数据库单点故障可能导致数据丢失，直接影响业务连续性，恢复时间至关重要。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826000" y="3492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914900" y="3530600"/>
            <a:ext cx="2730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方案：快照备份 + 事件回放重建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699000" y="42545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826000" y="43434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隐患：临界区资源死锁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826000" y="4724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多线程竞争共享资源时，若加锁后进程异常退出，会导致锁无法释放，业务流程卡住。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826000" y="5397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914900" y="5435600"/>
            <a:ext cx="2730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方案：SETNX + TTL + 兜底释放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55000" y="1524000"/>
            <a:ext cx="3556000" cy="495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255000" y="152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445500" y="1714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可靠性：数据准确与零丢失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445500" y="2349500"/>
            <a:ext cx="3175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72500" y="24384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交易一致性（超卖/错单）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72500" y="2794000"/>
            <a:ext cx="292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利用Redis原子操作(SPOP)与事务补偿机制，确保库存扣减与订单生成严格一致。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572500" y="3327400"/>
            <a:ext cx="29210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661400" y="33528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关键技术：原子弹出 + 回滚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445500" y="3937000"/>
            <a:ext cx="3175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572500" y="40259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并发逻辑防重（投票/接龙）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572500" y="4381500"/>
            <a:ext cx="2921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通过Redlock分布式锁串行化请求，配合Lua脚本原子校验，杜绝并发下的数据错乱。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572500" y="4914900"/>
            <a:ext cx="29210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8661400" y="49403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关键技术：Lua + 唯一约束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445500" y="5461000"/>
            <a:ext cx="31750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8572500" y="5524500"/>
            <a:ext cx="292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基础设施兜底策略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572500" y="5842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统一时区(Asia/Shanghai)，DLQ死信重试，Outbox消息持久化，构建最后一道防线。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抽奖防超卖——SPOP + 两阶段落库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1844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核心思想是利用 Redis 的原子操作特性，确保抽奖过程的原子性以规避并发超卖；同时引入事务补偿机制，在数据库写入异常（如唯一键冲突）时执行数据回滚，将奖品重新放回奖池，从技术底层保证高并发场景下数据的一致性与安全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588000" cy="2095500"/>
          </a:xfrm>
          <a:prstGeom prst="roundRect">
            <a:avLst>
              <a:gd name="adj" fmla="val 0"/>
            </a:avLst>
          </a:prstGeom>
          <a:solidFill>
            <a:srgbClr val="1F2937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5588000" cy="3556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32512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核心逻辑伪代码实现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683000"/>
            <a:ext cx="5270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// 1. 原子弹出：从Redis集合中获取中奖者，天然防超卖</a:t>
            </a:r>
            <a:b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Set&lt;String&gt; winners = redis.opsForSet().pop(poolKey, count);</a:t>
            </a:r>
            <a:b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// 2. 事务写入与补偿：失败即回滚</a:t>
            </a:r>
            <a:b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if (saveToDB(winners) == FAIL) {</a:t>
            </a:r>
            <a:b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redis.opsForSet().add(poolKey, winners.toArray()); // 异常回滚</a:t>
            </a:r>
            <a:b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238500"/>
            <a:ext cx="1727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3238500"/>
            <a:ext cx="1727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05600" y="34036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SPOP 原子性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05600" y="3937000"/>
            <a:ext cx="152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单命令原子弹出元素，在高并发下杜绝了重复中奖和库存超卖的可能性，是方案的基石。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45500" y="3238500"/>
            <a:ext cx="1727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445500" y="3238500"/>
            <a:ext cx="1727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47100" y="34036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两阶段处理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47100" y="3937000"/>
            <a:ext cx="152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采用“内存取数 + 持久化落库”的两步走策略，平衡了高性能读取与数据最终一致性的需求。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287000" y="3238500"/>
            <a:ext cx="1727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287000" y="3238500"/>
            <a:ext cx="1727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388600" y="34036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异常回滚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388600" y="3937000"/>
            <a:ext cx="152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当数据库写入失败时，自动触发回滚逻辑，将奖品归还奖池，避免数据丢失或状态不一致。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12522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524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方案价值：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该技术方案将 Redis 的高性能原子操作与事务补偿机制深度结合，完美适配了大促等高并发抽奖场景。它不仅实现了毫秒级的响应速度，支撑海量用户同时参与，更通过兜底的回滚逻辑，在极端异常情况下保障了业务数据的绝对安全，是高可用抽奖系统的最佳实践之一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0F9F2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方案2：接龙序号连续——分布式锁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布式锁将高并发的用户参与请求串行化处理，强制同一时间仅允许一个线程执行核心的序号生成逻辑。这一机制从根本上规避了并发冲突，确保了接龙序号的严格递增与连续无断层，是实现业务数据一致性的关键技术手段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715000" cy="1968500"/>
          </a:xfrm>
          <a:prstGeom prst="roundRect">
            <a:avLst>
              <a:gd name="adj" fmla="val 0"/>
            </a:avLst>
          </a:prstGeom>
          <a:solidFill>
            <a:srgbClr val="1F2937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730500"/>
            <a:ext cx="5397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获取针对当前接龙的分布式锁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String lockKey = "chain:join:" + chainId;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(lockService.tryLock(lockKey, 10, TimeUnit.SECONDS)) {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// 临界区：串行化执行序号生成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long seq = getMaxSeq() + 1; saveEntry(seq);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 finally { lockService.unlock(lockKey); }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0" y="2667000"/>
            <a:ext cx="469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921500" y="2730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核心执行逻辑解析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21500" y="3175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用户发起参与请求时，系统首先尝试获取特定的分布式锁。一旦成功获取，即进入互斥的临界区，此时可以安全地读取当前最大序号并执行加一操作。这种机制确保了在分布式环境下，序号的生成如同单线程执行般有序，彻底解决了并发导致的数据混乱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49530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跨进程互斥锁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" y="53594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采用Redis SETNX或Redlock算法实现跨JVM的全局锁。在分布式微服务架构中，为分散在不同节点的并发请求提供统一的准入控制，避免“超发”与“重号”。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81500" y="4826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381500" y="4826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533900" y="49530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操作原子性保障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33900" y="53594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将“查询最大值”与“写入新值”封装为锁内的原子操作。在临界区保护下，这两个步骤不可分割，保证了每一个新生成的序号都是当前逻辑下的唯一且正确的后续值。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4826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01000" y="4826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53400" y="49530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资源安全兜底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53400" y="53594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 try-finally 编程范式。无论业务代码是否抛出异常，锁资源都会被强制释放。这是防止死锁、保障系统高可用性和稳定性的最后一道防线。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460500"/>
            <a:ext cx="1028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方案3：投票强一致——Redlock + Lua 脚本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905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摒弃传统“先查后改”的非原子模式，利用Lua脚本在Redis服务端原子性完成“状态校验-票数更新-记录留存”全流程操作，从底层逻辑上杜绝高并发场景下的重复投票与数据不一致问题。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715000" cy="23495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715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292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核心逻辑：原子性校验更新脚本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365500"/>
            <a:ext cx="5397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if redis.call("sismember", KEYS[1], ARGV[1]) == 1 then return "EXIST" end</a:t>
            </a:r>
            <a:b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redis.call("incrby", KEYS[2], 1) -- 票数+1</a:t>
            </a:r>
            <a:b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redis.call("sadd", KEYS[1], ARGV[1]) -- 写入已投票集合</a:t>
            </a:r>
            <a:b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return "SUCCESS"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2794000"/>
            <a:ext cx="4953000" cy="23495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921500" y="292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技术价值：高并发下的一致性保障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21500" y="33655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原本需要多次网络交互的离散操作，通过脚本固化为Redis内核的单次原子执行。这不仅规避了分布式环境下的锁竞争与网络延迟，还将核心业务逻辑的执行效率提升至内存级别，同时配合Redlock机制，在故障转移时也能保证投票数据的最终一致性，完美适配千万级用户的瞬时投票场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53975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执行原子性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791200"/>
            <a:ext cx="323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脚本内所有指令作为一个整体执行，中间不会插入其他客户端命令，彻底消除并发修改带来的脏数据风险。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5334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445000" y="5334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53975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天然幂等性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35500" y="5791200"/>
            <a:ext cx="323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前置校验用户ID是否存在，确保同一用户无论发起多少次请求，投票结果仅生效一次，兼容客户端网络重试机制。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5334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28000" y="5334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18500" y="53975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极致高性能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18500" y="5791200"/>
            <a:ext cx="323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全内存操作无磁盘IO开销，单实例QPS可达数万级，配合异步化架构，从容应对流量洪峰下的毫秒级响应需求。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Redis灾备恢复——快照 + 事件回放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建立一套完善的Redis数据恢复机制，通过“定时快照留存基准 + 增量事件记录变更”的双重保障策略，确保在Redis服务意外宕机时，能够将投票等关键业务数据完整、精准地恢复至故障前状态，彻底消除核心业务数据丢失的风险。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87350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定时快照留存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4254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系统每5分钟对核心投票数据执行一次快照，将全量数据持久化至MySQL数据库，作为故障恢复的基础基准点。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3175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4925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619500" y="3302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87350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增量事件流记录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19500" y="4254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所有Redis写操作实时生成事件流（Event Stream），完整记录快照间隔期内的每一次数据变更，形成连续可追溯的操作日志。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175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230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0" y="3302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87350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故障重建触发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4254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服务监控检测到Redis宕机后，自动调用恢复接口 `POST /api/votes/recovery/rebuild`，一键启动自动化的系统恢复执行流程。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53500" y="3175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9535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080500" y="3302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80500" y="387350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全量数据恢复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80500" y="4254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先加载最新快照还原基础数据，再按时间顺序精准回放增量事件，将业务数据状态追平至故障前最后一刻，完成无损恢复。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334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2000" y="5334000"/>
            <a:ext cx="63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4356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397000" y="54102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分钟级 RPO 恢复目标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57912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基于5分钟快照周期，理论恢复点目标可控制在分钟级，大幅降低数据丢失的时间窗口，满足高频业务的高时效性要求。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23000" y="5334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223000" y="5334000"/>
            <a:ext cx="63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54356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858000" y="54102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100% 数据完整性保障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13500" y="57912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快照基础数据与全量增量事件的双重校验机制，确保从故障发生到恢复完成的全过程中，业务关键数据无任何遗漏或错误。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方案5：时区修复——统一北京时间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看似微小但至关重要的底层逻辑修复，彻底解决了跨时区用户访问时活动列表状态不一致的核心问题。通过将时间基准统一锚定到业务核心时区，消除了因地理位置差异产生的计算偏差，保障了全球用户视角下数据的一致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524500" cy="29210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0800" cy="292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52070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错误示范：依赖系统环境默认时区（存在不确定性）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// LocalDateTime now = LocalDateTime.now();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正确方案：强制绑定业务核心时区 - 亚洲/上海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LocalDateTime now = LocalDateTime.now(ZoneId.of("Asia/Shanghai"));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活跃状态判定：对空值进行业务容错，增强鲁棒性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boolean isActive = (start == null || now.isAfter(start)) &amp;&amp; (end == null || now.isBefore(end));</a:t>
            </a:r>
          </a:p>
        </p:txBody>
      </p:sp>
      <p:cxnSp>
        <p:nvCxnSpPr>
          <p:cNvPr id="9" name="Connector 9"/>
          <p:cNvCxnSpPr/>
          <p:nvPr/>
        </p:nvCxnSpPr>
        <p:spPr>
          <a:xfrm rot="5385053">
            <a:off x="5080000" y="4629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731000" y="3175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1500" y="3327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29500" y="3327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统一时间基准，消除时空偏差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21500" y="3835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所有业务时间计算不再依赖服务器或用户端的本地环境，而是强制基于北京时间（Asia/Shanghai）。这一标准统一了全球用户的时间视角，彻底避免了因时区转换带来的活动状态混乱。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31000" y="47625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1500" y="4889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29500" y="4889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边界容错，提升系统健壮性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215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优化空值处理逻辑：开始时间为空视为“立即生效”，结束时间为空视为“持续有效”。这种设计让系统能够从容应对业务配置中的非标准化场景，减少了因数据缺失导致的业务阻断。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41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前端接入层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413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Vue 开发的现代化响应式前端应用，作为用户与系统交互的统一入口，通过 HTTP 与 WebSocket 协议实现高效通信。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429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492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轻量高效 · 实时响应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1651000"/>
            <a:ext cx="2603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56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84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91000" y="1841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网关与服务集群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46500" y="2413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Nginx 作为反向代理与负载均衡器，将请求分发至后端 Spring Boot 多实例集群，具备故障转移与弹性扩容能力。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746500" y="3429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810000" y="3492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 · 动态伸缩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2603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1841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核心数据组件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2413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Redis 处理高频读写与分布式锁，MySQL 负责核心业务持久化存储，分层存储架构保障数据的高效读写与安全可靠。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40500" y="3429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04000" y="3492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 · 数据持久化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80500" y="1651000"/>
            <a:ext cx="2603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080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1841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715500" y="1841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异步与实时通信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71000" y="2413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Redis Stream 实现异步事件驱动与削峰填谷，结合 WebSocket 技术实现跨实例的消息实时广播，提升交互体验。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71000" y="3429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334500" y="3492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解耦 · 低延迟推送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4572000"/>
            <a:ext cx="10922000" cy="1651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587500" y="4762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架构核心优势：高内聚与低耦合的现代化微服务体系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" y="5334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本方案通过分层架构设计，将前端交互、流量分发、业务处理与数据存储解耦。利用 Redis 做高速缓存与消息代理，MySQL 保障数据落地，配合 Spring Boot 集群的弹性能力，构建了一个既能够支撑高并发业务场景，又能通过异步事件机制平滑处理流量洪峰的稳健系统。各组件职责明确，便于独立演进与扩展，为未来业务的快速迭代打下坚实基础。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后端运行环境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Spring Boot 3 构建核心业务服务，采用 Docker 容器化封装技术。单容器分配 4核8G 计算资源，完全复刻生产环境配置，消除环境差异。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31750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1115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关键配置：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微服务架构 / 资源隔离 / 独立网络栈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1397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085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数据存储集群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095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MySQL 8.0 作为事务型主数据库，配合 Redis 6.2 高性能缓存层。实现读写分离与数据持久化策略，支撑高频数据交互场景下的稳定性需求。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048000"/>
            <a:ext cx="31750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826000" y="31115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技术特性：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InnoDB引擎 / 哨兵模式 / 毫秒级响应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1397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550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4455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全栈测试工具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445500" y="2095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组合使用 JMeter 5.5 进行压力负载测试，Postman 开展接口功能验证。引入 PowerShell 自动化脚本执行复杂业务流与异常场景的回归测试。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445500" y="3048000"/>
            <a:ext cx="31750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572500" y="31115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执行标准：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覆盖度100% / 性能基准 / 错误注入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1104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4381500"/>
            <a:ext cx="17526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 t="4861" b="4861"/>
          <a:stretch>
            <a:fillRect/>
          </a:stretch>
        </p:blipFill>
        <p:spPr>
          <a:xfrm>
            <a:off x="952500" y="4508500"/>
            <a:ext cx="16256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889000" y="5397500"/>
            <a:ext cx="175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3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微服务开发基石</a:t>
            </a:r>
          </a:p>
        </p:txBody>
      </p:sp>
      <p:cxnSp>
        <p:nvCxnSpPr>
          <p:cNvPr id="26" name="Connector 26"/>
          <p:cNvCxnSpPr/>
          <p:nvPr/>
        </p:nvCxnSpPr>
        <p:spPr>
          <a:xfrm rot="5371352">
            <a:off x="19431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2768600" y="4381500"/>
            <a:ext cx="17526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rcRect t="4861" b="4861"/>
          <a:stretch>
            <a:fillRect/>
          </a:stretch>
        </p:blipFill>
        <p:spPr>
          <a:xfrm>
            <a:off x="2832100" y="4508500"/>
            <a:ext cx="16256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2768600" y="5397500"/>
            <a:ext cx="175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Docker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容器化部署环境</a:t>
            </a:r>
          </a:p>
        </p:txBody>
      </p:sp>
      <p:cxnSp>
        <p:nvCxnSpPr>
          <p:cNvPr id="30" name="Connector 30"/>
          <p:cNvCxnSpPr/>
          <p:nvPr/>
        </p:nvCxnSpPr>
        <p:spPr>
          <a:xfrm rot="5371352">
            <a:off x="38227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4648200" y="4381500"/>
            <a:ext cx="17526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6"/>
          <a:srcRect t="11914" b="11914"/>
          <a:stretch>
            <a:fillRect/>
          </a:stretch>
        </p:blipFill>
        <p:spPr>
          <a:xfrm>
            <a:off x="4711700" y="4508500"/>
            <a:ext cx="16256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4648200" y="5397500"/>
            <a:ext cx="175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关系型核心存储</a:t>
            </a:r>
          </a:p>
        </p:txBody>
      </p:sp>
      <p:cxnSp>
        <p:nvCxnSpPr>
          <p:cNvPr id="34" name="Connector 34"/>
          <p:cNvCxnSpPr/>
          <p:nvPr/>
        </p:nvCxnSpPr>
        <p:spPr>
          <a:xfrm rot="5371352">
            <a:off x="57023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527800" y="4381500"/>
            <a:ext cx="17526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rcRect t="24609" b="24609"/>
          <a:stretch>
            <a:fillRect/>
          </a:stretch>
        </p:blipFill>
        <p:spPr>
          <a:xfrm>
            <a:off x="6591300" y="4508500"/>
            <a:ext cx="16256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7" name="AutoShape 37"/>
          <p:cNvSpPr/>
          <p:nvPr/>
        </p:nvSpPr>
        <p:spPr>
          <a:xfrm>
            <a:off x="6527800" y="5397500"/>
            <a:ext cx="175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Redis 6.2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高性能内存缓存</a:t>
            </a:r>
          </a:p>
        </p:txBody>
      </p:sp>
      <p:cxnSp>
        <p:nvCxnSpPr>
          <p:cNvPr id="38" name="Connector 38"/>
          <p:cNvCxnSpPr/>
          <p:nvPr/>
        </p:nvCxnSpPr>
        <p:spPr>
          <a:xfrm rot="5371352">
            <a:off x="75819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8407400" y="4381500"/>
            <a:ext cx="17526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rcRect t="5566" b="5566"/>
          <a:stretch>
            <a:fillRect/>
          </a:stretch>
        </p:blipFill>
        <p:spPr>
          <a:xfrm>
            <a:off x="8470900" y="4508500"/>
            <a:ext cx="16256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1" name="AutoShape 41"/>
          <p:cNvSpPr/>
          <p:nvPr/>
        </p:nvSpPr>
        <p:spPr>
          <a:xfrm>
            <a:off x="8407400" y="5397500"/>
            <a:ext cx="175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JMeter 5.5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全链路压测引擎</a:t>
            </a:r>
          </a:p>
        </p:txBody>
      </p:sp>
      <p:cxnSp>
        <p:nvCxnSpPr>
          <p:cNvPr id="42" name="Connector 42"/>
          <p:cNvCxnSpPr/>
          <p:nvPr/>
        </p:nvCxnSpPr>
        <p:spPr>
          <a:xfrm rot="5371352">
            <a:off x="94615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10287000" y="4381500"/>
            <a:ext cx="15240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10287000" y="4508500"/>
            <a:ext cx="152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PM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287000" y="5397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Postman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接口功能验证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795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4732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设计了覆盖功能、性能、边界、容错及灾备的全维度测试方案。通过多场景压力测试与异常模拟，结合专业工具的精准验证，确保系统在高并发、极端环境及故障恢复下的稳定性与数据准确性，为业务上线筑牢质量防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03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03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27051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086100"/>
            <a:ext cx="3213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覆盖核心业务全流程，包括数据的创建、提交、多条件查询与删除操作，验证业务闭环逻辑。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683000"/>
            <a:ext cx="32131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7211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工具与标准：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Postman自动化 + 人工走查；接口返回正确且数据状态流转无误。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57700" y="2603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57700" y="2603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84700" y="27051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并发测试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84700" y="3086100"/>
            <a:ext cx="3213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针对高频互动场景，如问卷接龙、限时投票与抽奖活动，模拟海量用户同时在线操作。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84700" y="3683000"/>
            <a:ext cx="32131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48200" y="37211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工具与标准：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JMeter + 自定义脚本；高负载下服务无崩溃，核心数据一致性正确。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53400" y="2603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53400" y="2603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80400" y="27051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边界测试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80400" y="3086100"/>
            <a:ext cx="3213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探索系统临界值，如库存超卖（30人奖池执行50次抽取）、参数超限等极限业务场景。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80400" y="3683000"/>
            <a:ext cx="32131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343900" y="37211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工具与标准：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PowerShell脚本批量执行；返回有效数据无空值，业务逻辑自我保护生效。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635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4635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89000" y="47371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容错测试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" y="5118100"/>
            <a:ext cx="3213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模拟运行时故障，包括数据库SQLException、唯一键冲突、第三方服务响应超时等。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5651500"/>
            <a:ext cx="32131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6896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工具与标准：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代码级异常注入；异常自动捕获，事务正常回滚且资源释放。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457700" y="4635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4457700" y="4635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4584700" y="47371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灾备测试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84700" y="5118100"/>
            <a:ext cx="3213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验证极端灾难下的恢复能力，如Redis缓存全量清空、核心存储节点故障后的重建流程。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584700" y="5651500"/>
            <a:ext cx="32131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4648200" y="56896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工具与标准：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调用系统Rebuild接口；数据毫秒级恢复，业务连续性不受影响。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53400" y="46355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153400" y="4635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280400" y="47371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专项综合测试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280400" y="5118100"/>
            <a:ext cx="3213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涵盖跨时区时间计算、WebSocket长连接推送、多终端消息实时同步等复杂交互场景。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280400" y="5651500"/>
            <a:ext cx="32131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8343900" y="56896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工具与标准：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STOMP协议工具 + 全球节点模拟；数据展示与时序正确，消息零延迟。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416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676400"/>
            <a:ext cx="2387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问卷提交性能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095500"/>
            <a:ext cx="2387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200并发 · 145ms</a:t>
            </a:r>
            <a:endParaRPr lang="en-US" sz="2000" dirty="0"/>
          </a:p>
        </p:txBody>
      </p:sp>
      <p:sp>
        <p:nvSpPr>
          <p:cNvPr id="8" name="AutoShape 8"/>
          <p:cNvSpPr/>
          <p:nvPr/>
        </p:nvSpPr>
        <p:spPr>
          <a:xfrm>
            <a:off x="889000" y="266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全链路压测无报错，平均响应速度优于预期，高并发场景下系统吞吐量达标。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15240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556000" y="1524000"/>
            <a:ext cx="26416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683000" y="1676400"/>
            <a:ext cx="2387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接龙序号连续性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2095500"/>
            <a:ext cx="2387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100并发 ·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无断层</a:t>
            </a:r>
            <a:endParaRPr lang="en-US" sz="2000" dirty="0"/>
          </a:p>
        </p:txBody>
      </p:sp>
      <p:sp>
        <p:nvSpPr>
          <p:cNvPr id="13" name="AutoShape 13"/>
          <p:cNvSpPr/>
          <p:nvPr/>
        </p:nvSpPr>
        <p:spPr>
          <a:xfrm>
            <a:off x="3683000" y="266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高强度并发参与下，生成序号严格保持1~100连续，业务逻辑原子性得到充分验证。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0" y="1524000"/>
            <a:ext cx="26416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676400"/>
            <a:ext cx="2387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抽奖边界控制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095500"/>
            <a:ext cx="2387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30人池 ·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精准命中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6477000" y="266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在超出库存50人请求的极限场景下，仅30个中奖名额发放，有效杜绝了奖品超卖风险。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15240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144000" y="1524000"/>
            <a:ext cx="26416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71000" y="1676400"/>
            <a:ext cx="2387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投票数据一致性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2095500"/>
            <a:ext cx="2387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300并发 · 0超投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71000" y="266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高并发投票瞬时涌入，后台计数器准确累加，未出现一票多投或数据错乱异常。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683000"/>
            <a:ext cx="3619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3683000"/>
            <a:ext cx="3619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89000" y="3835400"/>
            <a:ext cx="336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Redis 灾备重建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" y="4254500"/>
            <a:ext cx="336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FLUSHALL 后 100% 恢复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47625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模拟极端故障执行清空指令，依赖AOF持久化机制，业务核心缓存数据实现毫秒级无损恢复。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08500" y="3683000"/>
            <a:ext cx="3619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508500" y="3683000"/>
            <a:ext cx="3619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4635500" y="3835400"/>
            <a:ext cx="336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实时推送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35500" y="4254500"/>
            <a:ext cx="336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100客户端 · 32ms 平均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635500" y="47625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全双工通信场景下，消息端到端延迟极低，高频实时数据下发无丢包、无乱序、无明显延迟。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55000" y="3683000"/>
            <a:ext cx="3619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255000" y="3683000"/>
            <a:ext cx="3619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8382000" y="3835400"/>
            <a:ext cx="336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多时区适配验证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82000" y="4254500"/>
            <a:ext cx="336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本地时间 · 精准映射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82000" y="47625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跨时区活动创建与活跃用户列表展示完全同步，彻底解决了历史版本中存在的时间显示错位Bug。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5588000"/>
            <a:ext cx="11112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62000" y="5588000"/>
            <a:ext cx="508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1016000" y="5651500"/>
            <a:ext cx="1054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全量核心场景回归测试顺利完成，系统在高并发负载、数据一致性及异常容灾恢复方面均达到预期上线标准。关键业务流程（问卷、接龙、抽奖、投票）与技术基础设施（Redis、WebSocket）表现稳定可靠，可支持业务正式发布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测试执行阶段，我们通过多维度的场景覆盖与压力测试，精准定位并修复了系统核心流程中的关键缺陷。这些问题的解决不仅优化了核心业务的执行逻辑，更为系统的稳定上线筑牢了坚实基础，确保用户体验的流畅与可靠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92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14400" y="27940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BUG-01 核心业务数据异常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238500"/>
            <a:ext cx="1016000" cy="279400"/>
          </a:xfrm>
          <a:prstGeom prst="roundRect">
            <a:avLst>
              <a:gd name="adj" fmla="val 0"/>
            </a:avLst>
          </a:prstGeom>
          <a:solidFill>
            <a:srgbClr val="EF4444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14400" y="32385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高严重级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3619500"/>
            <a:ext cx="31877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活跃问卷与接龙列表数据为空，经排查为后端服务时区配置错配导致的时间逻辑判断失效。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4254500"/>
            <a:ext cx="3187700" cy="457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2672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统一服务时区为Asia/Shanghai，放宽空值边界条件判断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14400" y="4762500"/>
            <a:ext cx="31877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14400" y="4762500"/>
            <a:ext cx="31877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状态：已验证修复完成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2667000"/>
            <a:ext cx="3492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445000" y="266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597400" y="27940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BUG-02 事务一致性风险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97400" y="3238500"/>
            <a:ext cx="1016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597400" y="32385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中严重级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97400" y="3619500"/>
            <a:ext cx="31877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高并发抽奖场景下，唯一键冲突导致事务中断，奖品库存未能正确回滚，存在数据不一致隐患。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97400" y="4254500"/>
            <a:ext cx="3187700" cy="457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699000" y="42672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引入事务回滚补偿机制，异常时自动将奖品塞回奖池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97400" y="4762500"/>
            <a:ext cx="31877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597400" y="4762500"/>
            <a:ext cx="31877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状态：已验证修复完成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2667000"/>
            <a:ext cx="3492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28000" y="266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280400" y="27940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BUG-03 分布式数据冲突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80400" y="3238500"/>
            <a:ext cx="1016000" cy="2794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280400" y="32385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中严重级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80400" y="3619500"/>
            <a:ext cx="31877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接龙活动中序号出现低概率重复，分布式锁的超时释放逻辑未能有效防止并发写操作的冲突。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80400" y="4254500"/>
            <a:ext cx="3187700" cy="457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382000" y="42672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延长分布式锁有效时间，重构锁竞争与续约机制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80400" y="4762500"/>
            <a:ext cx="31877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280400" y="4762500"/>
            <a:ext cx="31877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状态：已验证修复完成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62000" y="5334000"/>
            <a:ext cx="10858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016000" y="5410200"/>
            <a:ext cx="103505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本次测试共完成</a:t>
            </a: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 项核心缺陷闭环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，涵盖了业务逻辑、事务一致性及分布式并发控制三大关键领域。所有高优问题均在上线前得到彻底解决，系统核心功能通过率达到 100%，稳定性指标符合上线标准，为产品正式发布提供了可靠的质量保障。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62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032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核心功能严格遵循需求规约开发，业务流程闭环验证全部通过。从基础操作到复杂业务场景，系统功能无遗漏，完全满足上线标准。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39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58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562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性能卓越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032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高并发压力测试下表现稳定，无超卖、无重复数据生成问题。全局唯一序号连续不中断，核心接口响应时间与吞吐量均大幅优于预期指标。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39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58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1562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032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灾备恢复机制经实战演练验证有效，Redis关键节点宕机故障下实现数据零丢失。系统具备自动熔断与服务自愈能力，保障业务连续性。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302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3302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492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3467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体验流畅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3937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WebSocket实时数据推送稳定且低延迟，Web端与移动端多屏切换操作时数据毫秒级同步。全流程交互响应灵敏，无卡顿与加载延迟问题。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3302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445000" y="3302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3492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080000" y="3467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边界安全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35500" y="3937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通过极限边界场景测试：包含抽奖库存临界值防御、唯一键冲突自动回滚机制。同时完成海量历史数据翻查，系统运行平稳无异常报错。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302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492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763000" y="3467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8318500" y="3937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166534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基于全维度的严苛测试结果，系统在功能完整性、高并发性能及稳定性上均达到标准，具备正式上线运行的成熟条件，风险可控</a:t>
            </a:r>
            <a:r>
              <a:rPr lang="en-US" sz="1200" b="0" i="0" u="none" strike="noStrike" dirty="0">
                <a:solidFill>
                  <a:srgbClr val="166534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762000" y="5207000"/>
            <a:ext cx="10858500" cy="1333500"/>
          </a:xfrm>
          <a:prstGeom prst="roundRect">
            <a:avLst>
              <a:gd name="adj" fmla="val 0"/>
            </a:avLst>
          </a:prstGeom>
          <a:solidFill>
            <a:srgbClr val="FFF7ED">
              <a:alpha val="95000"/>
            </a:srgbClr>
          </a:solidFill>
          <a:ln w="12700" cap="flat" cmpd="sng">
            <a:solidFill>
              <a:srgbClr val="FDBA7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89000" y="5308600"/>
            <a:ext cx="52705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97500"/>
            <a:ext cx="279400" cy="279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1397000" y="5397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建议：增加网关动态限流策略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016000" y="5778500"/>
            <a:ext cx="501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为应对未来业务规模扩大带来的突发流量洪峰，建议在网关层增加精细化限流规则，实现流量削峰填谷，保护核心服务稳定运行。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58078">
            <a:off x="5765800" y="5822989"/>
            <a:ext cx="104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DBA74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350000" y="5308600"/>
            <a:ext cx="5207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5397500"/>
            <a:ext cx="279400" cy="2794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6858000" y="5397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建议：升级消息中间件架构</a:t>
            </a:r>
            <a:endParaRPr lang="en-US" sz="1100" dirty="0"/>
          </a:p>
        </p:txBody>
      </p:sp>
      <p:sp>
        <p:nvSpPr>
          <p:cNvPr id="42" name="AutoShape 42"/>
          <p:cNvSpPr/>
          <p:nvPr/>
        </p:nvSpPr>
        <p:spPr>
          <a:xfrm>
            <a:off x="6477000" y="57785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随着数据量持续增长，建议引入Kafka替代现有方案，利用其高吞吐特性提升异步解耦能力，支撑海量业务消息的可靠投递与堆积处理。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4378E0B-E085-C616-F63B-E6B79FB9C6EC}"/>
              </a:ext>
            </a:extLst>
          </p:cNvPr>
          <p:cNvSpPr/>
          <p:nvPr/>
        </p:nvSpPr>
        <p:spPr>
          <a:xfrm>
            <a:off x="990600" y="1009650"/>
            <a:ext cx="10521950" cy="4940300"/>
          </a:xfrm>
          <a:prstGeom prst="roundRect">
            <a:avLst>
              <a:gd name="adj" fmla="val 0"/>
            </a:avLst>
          </a:prstGeom>
          <a:solidFill>
            <a:srgbClr val="14191E">
              <a:alpha val="88000"/>
            </a:srgbClr>
          </a:solidFill>
          <a:ln w="12700" cap="flat" cmpd="sng">
            <a:solidFill>
              <a:srgbClr val="4ADE8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64019D-A7D9-4509-074E-524D39C7A446}"/>
              </a:ext>
            </a:extLst>
          </p:cNvPr>
          <p:cNvSpPr txBox="1"/>
          <p:nvPr/>
        </p:nvSpPr>
        <p:spPr>
          <a:xfrm>
            <a:off x="1203325" y="1351974"/>
            <a:ext cx="100965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小组分工：</a:t>
            </a:r>
            <a:endParaRPr lang="en-US" altLang="zh-CN" sz="3200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  <a:p>
            <a:r>
              <a:rPr lang="zh-CN" altLang="en-US" sz="3200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王梓羽：前端页面开发，前后端连接支持</a:t>
            </a:r>
            <a:endParaRPr lang="en-US" altLang="zh-CN" sz="3200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  <a:p>
            <a:r>
              <a:rPr lang="zh-CN" altLang="en-US" sz="3200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高邵杰：投票功能开发，部分前端页面设计</a:t>
            </a:r>
            <a:endParaRPr lang="en-US" altLang="zh-CN" sz="3200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  <a:p>
            <a:r>
              <a:rPr lang="zh-CN" altLang="en-US" sz="3200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甘鼎井：实现了问卷和接龙系统的后端功能</a:t>
            </a:r>
            <a:endParaRPr lang="en-US" altLang="zh-CN" sz="3200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  <a:p>
            <a:r>
              <a:rPr lang="zh-CN" altLang="en-US" sz="3200" dirty="0">
                <a:solidFill>
                  <a:schemeClr val="bg1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rPr>
              <a:t>宋星佑：抽奖服务、实时推送</a:t>
            </a:r>
            <a:endParaRPr lang="en-US" altLang="zh-CN" sz="3200" dirty="0">
              <a:solidFill>
                <a:schemeClr val="bg1"/>
              </a:solidFill>
              <a:latin typeface="Noto Sans SC Medium" panose="020B0200000000000000" pitchFamily="34" charset="-122"/>
              <a:ea typeface="Noto Sans SC Medium" panose="020B0200000000000000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2697</Words>
  <Application>Microsoft Office PowerPoint</Application>
  <PresentationFormat>宽屏</PresentationFormat>
  <Paragraphs>399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Noto Sans SC</vt:lpstr>
      <vt:lpstr>Noto Sans SC Medium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梓羽 王</cp:lastModifiedBy>
  <cp:revision>1</cp:revision>
  <dcterms:modified xsi:type="dcterms:W3CDTF">2026-06-02T09:36:06Z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{"Label":"1","ContentProducer":"001191110102MACQD9K64010000","ProduceID":"7646709582966262744","ReservedCode1":"","ContentPropagator":"","PropagateID":"","ReservedCode2":""}</vt:lpwstr>
  </property>
</Properties>
</file>